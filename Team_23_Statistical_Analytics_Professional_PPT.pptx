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15400" y="0"/>
            <a:ext cx="3273552" cy="6858000"/>
          </a:xfrm>
          <a:prstGeom prst="rect">
            <a:avLst/>
          </a:prstGeom>
          <a:solidFill>
            <a:srgbClr val="1D3B5C"/>
          </a:solidFill>
          <a:ln>
            <a:solidFill>
              <a:srgbClr val="1D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81160" y="731520"/>
            <a:ext cx="292608" cy="4206240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84080" y="1115568"/>
            <a:ext cx="292608" cy="3703320"/>
          </a:xfrm>
          <a:prstGeom prst="roundRect">
            <a:avLst/>
          </a:prstGeom>
          <a:solidFill>
            <a:srgbClr val="397DB8"/>
          </a:solidFill>
          <a:ln>
            <a:solidFill>
              <a:srgbClr val="39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87000" y="1499616"/>
            <a:ext cx="292608" cy="3200399"/>
          </a:xfrm>
          <a:prstGeom prst="roundRect">
            <a:avLst/>
          </a:prstGeom>
          <a:solidFill>
            <a:srgbClr val="379D65"/>
          </a:solidFill>
          <a:ln>
            <a:solidFill>
              <a:srgbClr val="379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89920" y="1883664"/>
            <a:ext cx="292608" cy="2697479"/>
          </a:xfrm>
          <a:prstGeom prst="roundRect">
            <a:avLst/>
          </a:prstGeom>
          <a:solidFill>
            <a:srgbClr val="CE8537"/>
          </a:solidFill>
          <a:ln>
            <a:solidFill>
              <a:srgbClr val="CE8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66928"/>
            <a:ext cx="713232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239D9D"/>
                </a:solidFill>
                <a:latin typeface="Aptos"/>
              </a:rPr>
              <a:t>DATA STRUCTURES AND ALGORITHMS –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566928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050" b="1">
                <a:solidFill>
                  <a:srgbClr val="BED2E4"/>
                </a:solidFill>
                <a:latin typeface="Aptos"/>
              </a:rPr>
              <a:t>25CS2103E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88720"/>
            <a:ext cx="7680960" cy="21031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STATISTICAL
ANALYTICS
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493008"/>
            <a:ext cx="71323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D6E7F3"/>
                </a:solidFill>
                <a:latin typeface="Aptos"/>
              </a:rPr>
              <a:t>Using Parallel Reduction &amp; Parallel Prefix Sum Algorithms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315968"/>
            <a:ext cx="1234440" cy="347472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352544"/>
            <a:ext cx="112471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TEAM 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64608"/>
            <a:ext cx="4114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P. Sasi Kumar  •  2520030505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230368"/>
            <a:ext cx="4114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P. Revanth  •  2520030292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806440"/>
            <a:ext cx="68580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BED2E4"/>
                </a:solidFill>
                <a:latin typeface="Aptos"/>
              </a:rPr>
              <a:t>Under the Esteemed Guidance of  •  DSA-3 Faculty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199632"/>
            <a:ext cx="10515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000" b="1">
                <a:solidFill>
                  <a:srgbClr val="BED2E4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5097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Aptos Display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04120" y="292608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50" b="1">
                <a:solidFill>
                  <a:srgbClr val="239D9D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0">
                <a:solidFill>
                  <a:srgbClr val="5B6979"/>
                </a:solidFill>
                <a:latin typeface="Aptos"/>
              </a:rPr>
              <a:t>A concise roadmap of the project and implementation.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E1E9F1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5B6979"/>
                </a:solidFill>
                <a:latin typeface="Aptos"/>
              </a:rPr>
              <a:t>TEAM 23  •  DSA-3  •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5B6979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257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1" y="1280160"/>
            <a:ext cx="502920" cy="530352"/>
          </a:xfrm>
          <a:prstGeom prst="roundRect">
            <a:avLst/>
          </a:prstGeom>
          <a:solidFill>
            <a:srgbClr val="142B45"/>
          </a:solidFill>
          <a:ln>
            <a:solidFill>
              <a:srgbClr val="14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1" y="1335024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280160"/>
            <a:ext cx="42519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42B45"/>
                </a:solidFill>
                <a:latin typeface="Aptos"/>
              </a:rPr>
              <a:t>Abstract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581912"/>
            <a:ext cx="42519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69" b="0">
                <a:solidFill>
                  <a:srgbClr val="5B6979"/>
                </a:solidFill>
                <a:latin typeface="Aptos"/>
              </a:rPr>
              <a:t>Purpose and capabilities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30552"/>
            <a:ext cx="5257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1" y="2221992"/>
            <a:ext cx="502920" cy="530352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1" y="2276856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2221992"/>
            <a:ext cx="42519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42B45"/>
                </a:solidFill>
                <a:latin typeface="Aptos"/>
              </a:rPr>
              <a:t>Introduction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2523744"/>
            <a:ext cx="42519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69" b="0">
                <a:solidFill>
                  <a:srgbClr val="5B6979"/>
                </a:solidFill>
                <a:latin typeface="Aptos"/>
              </a:rPr>
              <a:t>Why parallel analytics matters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72384"/>
            <a:ext cx="5257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1" y="3163824"/>
            <a:ext cx="502920" cy="530352"/>
          </a:xfrm>
          <a:prstGeom prst="roundRect">
            <a:avLst/>
          </a:prstGeom>
          <a:solidFill>
            <a:srgbClr val="142B45"/>
          </a:solidFill>
          <a:ln>
            <a:solidFill>
              <a:srgbClr val="14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" y="3218688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3163824"/>
            <a:ext cx="42519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42B45"/>
                </a:solidFill>
                <a:latin typeface="Aptos"/>
              </a:rPr>
              <a:t>Literature Survey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3465576"/>
            <a:ext cx="42519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69" b="0">
                <a:solidFill>
                  <a:srgbClr val="5B6979"/>
                </a:solidFill>
                <a:latin typeface="Aptos"/>
              </a:rPr>
              <a:t>Sequential vs. parallel computation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014215"/>
            <a:ext cx="5257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3231" y="4105655"/>
            <a:ext cx="502920" cy="530352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1" y="416052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4105655"/>
            <a:ext cx="42519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42B45"/>
                </a:solidFill>
                <a:latin typeface="Aptos"/>
              </a:rPr>
              <a:t>Problem &amp; Objectives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4407407"/>
            <a:ext cx="42519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69" b="0">
                <a:solidFill>
                  <a:srgbClr val="5B6979"/>
                </a:solidFill>
                <a:latin typeface="Aptos"/>
              </a:rPr>
              <a:t>Challenge and measurable goals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56048"/>
            <a:ext cx="5257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3231" y="5047488"/>
            <a:ext cx="502920" cy="530352"/>
          </a:xfrm>
          <a:prstGeom prst="roundRect">
            <a:avLst/>
          </a:prstGeom>
          <a:solidFill>
            <a:srgbClr val="142B45"/>
          </a:solidFill>
          <a:ln>
            <a:solidFill>
              <a:srgbClr val="14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1" y="5102352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88" y="5047488"/>
            <a:ext cx="42519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42B45"/>
                </a:solidFill>
                <a:latin typeface="Aptos"/>
              </a:rPr>
              <a:t>Flow 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9888" y="5349240"/>
            <a:ext cx="42519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69" b="0">
                <a:solidFill>
                  <a:srgbClr val="5B6979"/>
                </a:solidFill>
                <a:latin typeface="Aptos"/>
              </a:rPr>
              <a:t>End-to-end processing pipeline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1188720"/>
            <a:ext cx="5257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82512" y="1280160"/>
            <a:ext cx="502920" cy="530352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1335024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1280160"/>
            <a:ext cx="42519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42B45"/>
                </a:solidFill>
                <a:latin typeface="Aptos"/>
              </a:rPr>
              <a:t>Results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1581912"/>
            <a:ext cx="42519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69" b="0">
                <a:solidFill>
                  <a:srgbClr val="5B6979"/>
                </a:solidFill>
                <a:latin typeface="Aptos"/>
              </a:rPr>
              <a:t>Correctness and benchmark evidence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2130552"/>
            <a:ext cx="5257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82512" y="2221992"/>
            <a:ext cx="502920" cy="530352"/>
          </a:xfrm>
          <a:prstGeom prst="roundRect">
            <a:avLst/>
          </a:prstGeom>
          <a:solidFill>
            <a:srgbClr val="142B45"/>
          </a:solidFill>
          <a:ln>
            <a:solidFill>
              <a:srgbClr val="14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2276856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2221992"/>
            <a:ext cx="42519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42B45"/>
                </a:solidFill>
                <a:latin typeface="Aptos"/>
              </a:rPr>
              <a:t>Hardware &amp; Software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59168" y="2523744"/>
            <a:ext cx="42519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69" b="0">
                <a:solidFill>
                  <a:srgbClr val="5B6979"/>
                </a:solidFill>
                <a:latin typeface="Aptos"/>
              </a:rPr>
              <a:t>Execution environment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3072384"/>
            <a:ext cx="5257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82512" y="3163824"/>
            <a:ext cx="502920" cy="530352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2512" y="3218688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3163824"/>
            <a:ext cx="42519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42B45"/>
                </a:solidFill>
                <a:latin typeface="Aptos"/>
              </a:rPr>
              <a:t>Conclusion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59168" y="3465576"/>
            <a:ext cx="42519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69" b="0">
                <a:solidFill>
                  <a:srgbClr val="5B6979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4014215"/>
            <a:ext cx="5257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82512" y="4105655"/>
            <a:ext cx="502920" cy="530352"/>
          </a:xfrm>
          <a:prstGeom prst="roundRect">
            <a:avLst/>
          </a:prstGeom>
          <a:solidFill>
            <a:srgbClr val="142B45"/>
          </a:solidFill>
          <a:ln>
            <a:solidFill>
              <a:srgbClr val="14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82512" y="416052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59168" y="4105655"/>
            <a:ext cx="42519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42B45"/>
                </a:solidFill>
                <a:latin typeface="Aptos"/>
              </a:rPr>
              <a:t>Future Scope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9168" y="4407407"/>
            <a:ext cx="42519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69" b="0">
                <a:solidFill>
                  <a:srgbClr val="5B6979"/>
                </a:solidFill>
                <a:latin typeface="Aptos"/>
              </a:rPr>
              <a:t>Potential extensions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5097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Aptos Display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04120" y="292608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50" b="1">
                <a:solidFill>
                  <a:srgbClr val="239D9D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0">
                <a:solidFill>
                  <a:srgbClr val="5B6979"/>
                </a:solidFill>
                <a:latin typeface="Aptos"/>
              </a:rPr>
              <a:t>A dashboard-oriented implementation of parallel statistical analytics.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E1E9F1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5B6979"/>
                </a:solidFill>
                <a:latin typeface="Aptos"/>
              </a:rPr>
              <a:t>TEAM 23  •  DSA-3  •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5B6979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64008" cy="4526280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71600"/>
            <a:ext cx="501091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42B45"/>
                </a:solidFill>
                <a:latin typeface="Aptos"/>
              </a:rPr>
              <a:t>PROJECT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764792"/>
            <a:ext cx="5010912" cy="3886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Analyze large numerical datasets using sequential and parallel algorithms.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Use Fork/Join based parallel reduction and prefix-sum processing.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Present statistics, frequency distributions and execution-time comparisons in one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3444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1234440"/>
            <a:ext cx="64008" cy="4526280"/>
          </a:xfrm>
          <a:prstGeom prst="roundRect">
            <a:avLst/>
          </a:prstGeom>
          <a:solidFill>
            <a:srgbClr val="397DB8"/>
          </a:solidFill>
          <a:ln>
            <a:solidFill>
              <a:srgbClr val="39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501091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42B45"/>
                </a:solidFill>
                <a:latin typeface="Aptos"/>
              </a:rPr>
              <a:t>KEY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64792"/>
            <a:ext cx="5010912" cy="3886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Mean, variance, minimum and maximum.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Cumulative / prefix sums.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Frequency distribution.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Sequential vs. parallel benchmark results.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CSV export and graphical performance reports.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5925312"/>
            <a:ext cx="6355080" cy="347472"/>
          </a:xfrm>
          <a:prstGeom prst="roundRect">
            <a:avLst/>
          </a:prstGeom>
          <a:solidFill>
            <a:srgbClr val="E8F1F9"/>
          </a:solidFill>
          <a:ln>
            <a:solidFill>
              <a:srgbClr val="E8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5961888"/>
            <a:ext cx="62636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42B45"/>
                </a:solidFill>
                <a:latin typeface="Aptos"/>
              </a:rPr>
              <a:t>CORE THEME: PARALLEL ALGORITHMS + DATA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5097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Aptos Display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04120" y="292608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50" b="1">
                <a:solidFill>
                  <a:srgbClr val="239D9D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0">
                <a:solidFill>
                  <a:srgbClr val="5B6979"/>
                </a:solidFill>
                <a:latin typeface="Aptos"/>
              </a:rPr>
              <a:t>From one-at-a-time processing to scalable numerical computation.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E1E9F1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5B6979"/>
                </a:solidFill>
                <a:latin typeface="Aptos"/>
              </a:rPr>
              <a:t>TEAM 23  •  DSA-3  •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5B6979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4800600" cy="4526280"/>
          </a:xfrm>
          <a:prstGeom prst="roundRect">
            <a:avLst/>
          </a:prstGeom>
          <a:solidFill>
            <a:srgbClr val="142B45"/>
          </a:solidFill>
          <a:ln>
            <a:solidFill>
              <a:srgbClr val="14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36192"/>
            <a:ext cx="1645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AECCE1"/>
                </a:solidFill>
                <a:latin typeface="Aptos"/>
              </a:rPr>
              <a:t>SEQUENTIAL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331720"/>
            <a:ext cx="411480" cy="411480"/>
          </a:xfrm>
          <a:prstGeom prst="roundRect">
            <a:avLst/>
          </a:prstGeom>
          <a:solidFill>
            <a:srgbClr val="397DB8"/>
          </a:solidFill>
          <a:ln>
            <a:solidFill>
              <a:srgbClr val="39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86584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81912" y="2331720"/>
            <a:ext cx="411480" cy="411480"/>
          </a:xfrm>
          <a:prstGeom prst="roundRect">
            <a:avLst/>
          </a:prstGeom>
          <a:solidFill>
            <a:srgbClr val="397DB8"/>
          </a:solidFill>
          <a:ln>
            <a:solidFill>
              <a:srgbClr val="39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81912" y="2386584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03704" y="2331720"/>
            <a:ext cx="411480" cy="411480"/>
          </a:xfrm>
          <a:prstGeom prst="roundRect">
            <a:avLst/>
          </a:prstGeom>
          <a:solidFill>
            <a:srgbClr val="397DB8"/>
          </a:solidFill>
          <a:ln>
            <a:solidFill>
              <a:srgbClr val="39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03704" y="2386584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25496" y="2331720"/>
            <a:ext cx="411480" cy="411480"/>
          </a:xfrm>
          <a:prstGeom prst="roundRect">
            <a:avLst/>
          </a:prstGeom>
          <a:solidFill>
            <a:srgbClr val="397DB8"/>
          </a:solidFill>
          <a:ln>
            <a:solidFill>
              <a:srgbClr val="39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25496" y="2386584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7288" y="2331720"/>
            <a:ext cx="411480" cy="411480"/>
          </a:xfrm>
          <a:prstGeom prst="roundRect">
            <a:avLst/>
          </a:prstGeom>
          <a:solidFill>
            <a:srgbClr val="397DB8"/>
          </a:solidFill>
          <a:ln>
            <a:solidFill>
              <a:srgbClr val="39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2386584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2331720"/>
            <a:ext cx="411480" cy="411480"/>
          </a:xfrm>
          <a:prstGeom prst="roundRect">
            <a:avLst/>
          </a:prstGeom>
          <a:solidFill>
            <a:srgbClr val="397DB8"/>
          </a:solidFill>
          <a:ln>
            <a:solidFill>
              <a:srgbClr val="39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2386584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971800"/>
            <a:ext cx="32004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One stream of computation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401568"/>
            <a:ext cx="34747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BED2E4"/>
                </a:solidFill>
                <a:latin typeface="Aptos"/>
              </a:rPr>
              <a:t>Simple • predictable • limited parallelism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069080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39D9D"/>
                </a:solidFill>
                <a:latin typeface="Aptos"/>
              </a:rPr>
              <a:t>PARALLEL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590288"/>
            <a:ext cx="411480" cy="411480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581912" y="4590288"/>
            <a:ext cx="411480" cy="411480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03704" y="4590288"/>
            <a:ext cx="411480" cy="411480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" y="5157216"/>
            <a:ext cx="411480" cy="411480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581912" y="5157216"/>
            <a:ext cx="411480" cy="411480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203704" y="5157216"/>
            <a:ext cx="411480" cy="411480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4498848"/>
            <a:ext cx="19202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Multiple workers process independent portions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15000" y="1234440"/>
            <a:ext cx="5897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715000" y="1234440"/>
            <a:ext cx="64008" cy="4526280"/>
          </a:xfrm>
          <a:prstGeom prst="roundRect">
            <a:avLst/>
          </a:prstGeom>
          <a:solidFill>
            <a:srgbClr val="379D65"/>
          </a:solidFill>
          <a:ln>
            <a:solidFill>
              <a:srgbClr val="379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16168" y="1371600"/>
            <a:ext cx="551383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42B45"/>
                </a:solidFill>
                <a:latin typeface="Aptos"/>
              </a:rPr>
              <a:t>WHY THIS PROJECT?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16168" y="1764792"/>
            <a:ext cx="5513832" cy="3886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Large datasets increase the cost of repeated statistical scans.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Reduction is naturally parallel for sum, minimum and maximum.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Prefix sum supports cumulative analytics and demonstrates a second parallel pattern.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The dashboard makes algorithmic results and performance visible.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5097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Aptos Display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04120" y="292608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50" b="1">
                <a:solidFill>
                  <a:srgbClr val="239D9D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0">
                <a:solidFill>
                  <a:srgbClr val="5B6979"/>
                </a:solidFill>
                <a:latin typeface="Aptos"/>
              </a:rPr>
              <a:t>Concepts that motivate the chosen algorithmic approach.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E1E9F1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5B6979"/>
                </a:solidFill>
                <a:latin typeface="Aptos"/>
              </a:rPr>
              <a:t>TEAM 23  •  DSA-3  •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5B6979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566928" cy="566928"/>
          </a:xfrm>
          <a:prstGeom prst="roundRect">
            <a:avLst/>
          </a:prstGeom>
          <a:solidFill>
            <a:srgbClr val="397DB8"/>
          </a:solidFill>
          <a:ln>
            <a:solidFill>
              <a:srgbClr val="39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99032"/>
            <a:ext cx="56692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234440"/>
            <a:ext cx="2880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42B45"/>
                </a:solidFill>
                <a:latin typeface="Aptos"/>
              </a:rPr>
              <a:t>Sequential statistics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234440"/>
            <a:ext cx="704088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0">
                <a:solidFill>
                  <a:srgbClr val="232F3E"/>
                </a:solidFill>
                <a:latin typeface="Aptos"/>
              </a:rPr>
              <a:t>Traditional loops are straightforward for mean, variance, min and max; cost grows linearly.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377440"/>
            <a:ext cx="566928" cy="566928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42032"/>
            <a:ext cx="56692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377440"/>
            <a:ext cx="2880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42B45"/>
                </a:solidFill>
                <a:latin typeface="Aptos"/>
              </a:rPr>
              <a:t>Parallel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377440"/>
            <a:ext cx="704088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0">
                <a:solidFill>
                  <a:srgbClr val="232F3E"/>
                </a:solidFill>
                <a:latin typeface="Aptos"/>
              </a:rPr>
              <a:t>Reduction combines partial results such as sum/min/max across independent partitions.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40"/>
            <a:ext cx="566928" cy="566928"/>
          </a:xfrm>
          <a:prstGeom prst="roundRect">
            <a:avLst/>
          </a:prstGeom>
          <a:solidFill>
            <a:srgbClr val="CE8537"/>
          </a:solidFill>
          <a:ln>
            <a:solidFill>
              <a:srgbClr val="CE8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85032"/>
            <a:ext cx="56692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20440"/>
            <a:ext cx="2880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42B45"/>
                </a:solidFill>
                <a:latin typeface="Aptos"/>
              </a:rPr>
              <a:t>Parallel prefix sum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520440"/>
            <a:ext cx="704088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0">
                <a:solidFill>
                  <a:srgbClr val="232F3E"/>
                </a:solidFill>
                <a:latin typeface="Aptos"/>
              </a:rPr>
              <a:t>Prefix operations compute cumulative results and are a standard parallel pattern.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566928" cy="566928"/>
          </a:xfrm>
          <a:prstGeom prst="roundRect">
            <a:avLst/>
          </a:prstGeom>
          <a:solidFill>
            <a:srgbClr val="795BA8"/>
          </a:solidFill>
          <a:ln>
            <a:solidFill>
              <a:srgbClr val="79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28031"/>
            <a:ext cx="56692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663440"/>
            <a:ext cx="2880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42B45"/>
                </a:solidFill>
                <a:latin typeface="Aptos"/>
              </a:rPr>
              <a:t>Fork/Join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663440"/>
            <a:ext cx="704088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0">
                <a:solidFill>
                  <a:srgbClr val="232F3E"/>
                </a:solidFill>
                <a:latin typeface="Aptos"/>
              </a:rPr>
              <a:t>Java Fork/Join supports recursive decomposition and work stealing for multi-core computation.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5897880"/>
            <a:ext cx="6583680" cy="347472"/>
          </a:xfrm>
          <a:prstGeom prst="roundRect">
            <a:avLst/>
          </a:prstGeom>
          <a:solidFill>
            <a:srgbClr val="E8F1F9"/>
          </a:solidFill>
          <a:ln>
            <a:solidFill>
              <a:srgbClr val="E8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5943600"/>
            <a:ext cx="6492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69" b="1">
                <a:solidFill>
                  <a:srgbClr val="142B45"/>
                </a:solidFill>
                <a:latin typeface="Aptos"/>
              </a:rPr>
              <a:t>DESIGN CHOICE: FORK/JOIN FOR PRACTICAL PARALLEL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5097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Aptos Display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04120" y="292608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50" b="1">
                <a:solidFill>
                  <a:srgbClr val="239D9D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0">
                <a:solidFill>
                  <a:srgbClr val="5B6979"/>
                </a:solidFill>
                <a:latin typeface="Aptos"/>
              </a:rPr>
              <a:t>The implementation targets both correctness and measurable performance.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E1E9F1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5B6979"/>
                </a:solidFill>
                <a:latin typeface="Aptos"/>
              </a:rPr>
              <a:t>TEAM 23  •  DSA-3  •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5B6979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10972800" cy="1417320"/>
          </a:xfrm>
          <a:prstGeom prst="roundRect">
            <a:avLst/>
          </a:prstGeom>
          <a:solidFill>
            <a:srgbClr val="142B45"/>
          </a:solidFill>
          <a:ln>
            <a:solidFill>
              <a:srgbClr val="14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35608"/>
            <a:ext cx="21945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39D9D"/>
                </a:solidFill>
                <a:latin typeface="Aptos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10512"/>
            <a:ext cx="10149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Processing large numerical datasets sequentially can become time-consuming. The project implements statistical analytics using parallel algorithms and compares sequential and parallel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71800"/>
            <a:ext cx="3456432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136392"/>
            <a:ext cx="475488" cy="475488"/>
          </a:xfrm>
          <a:prstGeom prst="roundRect">
            <a:avLst/>
          </a:prstGeom>
          <a:solidFill>
            <a:srgbClr val="397DB8"/>
          </a:solidFill>
          <a:ln>
            <a:solidFill>
              <a:srgbClr val="39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27832"/>
            <a:ext cx="475488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108960"/>
            <a:ext cx="254203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42B45"/>
                </a:solidFill>
                <a:latin typeface="Aptos"/>
              </a:rPr>
              <a:t>Compute descriptive statistics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3456432"/>
            <a:ext cx="254203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5B6979"/>
                </a:solidFill>
                <a:latin typeface="Aptos"/>
              </a:rPr>
              <a:t>Mean, variance, minimum and maximum.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2971800"/>
            <a:ext cx="3456432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07992" y="3136392"/>
            <a:ext cx="475488" cy="475488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3227832"/>
            <a:ext cx="475488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72" y="3108960"/>
            <a:ext cx="254203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42B45"/>
                </a:solidFill>
                <a:latin typeface="Aptos"/>
              </a:rPr>
              <a:t>Compute cumulative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8072" y="3456432"/>
            <a:ext cx="254203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5B6979"/>
                </a:solidFill>
                <a:latin typeface="Aptos"/>
              </a:rPr>
              <a:t>Generate prefix sums over the dataset.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2971800"/>
            <a:ext cx="3456432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38744" y="3136392"/>
            <a:ext cx="475488" cy="475488"/>
          </a:xfrm>
          <a:prstGeom prst="roundRect">
            <a:avLst/>
          </a:prstGeom>
          <a:solidFill>
            <a:srgbClr val="CE8537"/>
          </a:solidFill>
          <a:ln>
            <a:solidFill>
              <a:srgbClr val="CE8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8744" y="3227832"/>
            <a:ext cx="475488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3108960"/>
            <a:ext cx="254203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42B45"/>
                </a:solidFill>
                <a:latin typeface="Aptos"/>
              </a:rPr>
              <a:t>Analyze frequency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3456432"/>
            <a:ext cx="254203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5B6979"/>
                </a:solidFill>
                <a:latin typeface="Aptos"/>
              </a:rPr>
              <a:t>Count occurrences and expose distributions.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389120"/>
            <a:ext cx="3456432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553712"/>
            <a:ext cx="475488" cy="475488"/>
          </a:xfrm>
          <a:prstGeom prst="roundRect">
            <a:avLst/>
          </a:prstGeom>
          <a:solidFill>
            <a:srgbClr val="795BA8"/>
          </a:solidFill>
          <a:ln>
            <a:solidFill>
              <a:srgbClr val="79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645152"/>
            <a:ext cx="475488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26280"/>
            <a:ext cx="254203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42B45"/>
                </a:solidFill>
                <a:latin typeface="Aptos"/>
              </a:rPr>
              <a:t>Measure 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4873752"/>
            <a:ext cx="254203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5B6979"/>
                </a:solidFill>
                <a:latin typeface="Aptos"/>
              </a:rPr>
              <a:t>Compare execution time and calculate speedup.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0832" y="4389120"/>
            <a:ext cx="3456432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07992" y="4553712"/>
            <a:ext cx="475488" cy="475488"/>
          </a:xfrm>
          <a:prstGeom prst="roundRect">
            <a:avLst/>
          </a:prstGeom>
          <a:solidFill>
            <a:srgbClr val="379D65"/>
          </a:solidFill>
          <a:ln>
            <a:solidFill>
              <a:srgbClr val="379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07992" y="4645152"/>
            <a:ext cx="475488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48072" y="4526280"/>
            <a:ext cx="254203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42B45"/>
                </a:solidFill>
                <a:latin typeface="Aptos"/>
              </a:rPr>
              <a:t>Visualize 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48072" y="4873752"/>
            <a:ext cx="254203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5B6979"/>
                </a:solidFill>
                <a:latin typeface="Aptos"/>
              </a:rPr>
              <a:t>Export CSV data and present graphical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5097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Aptos Display"/>
              </a:rPr>
              <a:t>Flow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04120" y="292608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50" b="1">
                <a:solidFill>
                  <a:srgbClr val="239D9D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0">
                <a:solidFill>
                  <a:srgbClr val="5B6979"/>
                </a:solidFill>
                <a:latin typeface="Aptos"/>
              </a:rPr>
              <a:t>End-to-end processing pipeline implemented in Java.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E1E9F1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5B6979"/>
                </a:solidFill>
                <a:latin typeface="Aptos"/>
              </a:rPr>
              <a:t>TEAM 23  •  DSA-3  •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5B6979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48840"/>
            <a:ext cx="1508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148840"/>
            <a:ext cx="1508760" cy="109728"/>
          </a:xfrm>
          <a:prstGeom prst="roundRect">
            <a:avLst/>
          </a:prstGeom>
          <a:solidFill>
            <a:srgbClr val="397DB8"/>
          </a:solidFill>
          <a:ln>
            <a:solidFill>
              <a:srgbClr val="39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450592"/>
            <a:ext cx="13624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50" b="1">
                <a:solidFill>
                  <a:srgbClr val="397DB8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816352"/>
            <a:ext cx="1289304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232F3E"/>
                </a:solidFill>
                <a:latin typeface="Aptos"/>
              </a:rPr>
              <a:t>Numerical dataset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20240" y="2852928"/>
            <a:ext cx="411480" cy="0"/>
          </a:xfrm>
          <a:prstGeom prst="line">
            <a:avLst/>
          </a:prstGeom>
          <a:ln w="20320">
            <a:solidFill>
              <a:srgbClr val="5B6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395728" y="2148840"/>
            <a:ext cx="1508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95728" y="2148840"/>
            <a:ext cx="1508760" cy="109728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2450592"/>
            <a:ext cx="13624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50" b="1">
                <a:solidFill>
                  <a:srgbClr val="239D9D"/>
                </a:solidFill>
                <a:latin typeface="Aptos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5456" y="2816352"/>
            <a:ext cx="1289304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232F3E"/>
                </a:solidFill>
                <a:latin typeface="Aptos"/>
              </a:rPr>
              <a:t>Load &amp; verify data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04487" y="2852928"/>
            <a:ext cx="411481" cy="0"/>
          </a:xfrm>
          <a:prstGeom prst="line">
            <a:avLst/>
          </a:prstGeom>
          <a:ln w="20320">
            <a:solidFill>
              <a:srgbClr val="5B6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79976" y="2148840"/>
            <a:ext cx="1508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79976" y="2148840"/>
            <a:ext cx="1508760" cy="109728"/>
          </a:xfrm>
          <a:prstGeom prst="roundRect">
            <a:avLst/>
          </a:prstGeom>
          <a:solidFill>
            <a:srgbClr val="379D65"/>
          </a:solidFill>
          <a:ln>
            <a:solidFill>
              <a:srgbClr val="379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2450592"/>
            <a:ext cx="13624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50" b="1">
                <a:solidFill>
                  <a:srgbClr val="379D65"/>
                </a:solidFill>
                <a:latin typeface="Aptos"/>
              </a:rPr>
              <a:t>SEQUENTIAL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2816352"/>
            <a:ext cx="1289304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232F3E"/>
                </a:solidFill>
                <a:latin typeface="Aptos"/>
              </a:rPr>
              <a:t>Statistics + prefix sum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88736" y="2852928"/>
            <a:ext cx="411480" cy="0"/>
          </a:xfrm>
          <a:prstGeom prst="line">
            <a:avLst/>
          </a:prstGeom>
          <a:ln w="20320">
            <a:solidFill>
              <a:srgbClr val="5B6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64224" y="2148840"/>
            <a:ext cx="1508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64224" y="2148840"/>
            <a:ext cx="1508760" cy="109728"/>
          </a:xfrm>
          <a:prstGeom prst="roundRect">
            <a:avLst/>
          </a:prstGeom>
          <a:solidFill>
            <a:srgbClr val="CE8537"/>
          </a:solidFill>
          <a:ln>
            <a:solidFill>
              <a:srgbClr val="CE8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2450592"/>
            <a:ext cx="13624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50" b="1">
                <a:solidFill>
                  <a:srgbClr val="CE8537"/>
                </a:solidFill>
                <a:latin typeface="Aptos"/>
              </a:rPr>
              <a:t>PARALLEL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2816352"/>
            <a:ext cx="1289304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232F3E"/>
                </a:solidFill>
                <a:latin typeface="Aptos"/>
              </a:rPr>
              <a:t>Reduction + prefix sum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72983" y="2852928"/>
            <a:ext cx="411481" cy="0"/>
          </a:xfrm>
          <a:prstGeom prst="line">
            <a:avLst/>
          </a:prstGeom>
          <a:ln w="20320">
            <a:solidFill>
              <a:srgbClr val="5B6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348471" y="2148840"/>
            <a:ext cx="1508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48471" y="2148840"/>
            <a:ext cx="1508760" cy="109728"/>
          </a:xfrm>
          <a:prstGeom prst="roundRect">
            <a:avLst/>
          </a:prstGeom>
          <a:solidFill>
            <a:srgbClr val="795BA8"/>
          </a:solidFill>
          <a:ln>
            <a:solidFill>
              <a:srgbClr val="79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21624" y="2450592"/>
            <a:ext cx="13624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50" b="1">
                <a:solidFill>
                  <a:srgbClr val="795BA8"/>
                </a:solidFill>
                <a:latin typeface="Aptos"/>
              </a:rPr>
              <a:t>ANALYZE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9" y="2816352"/>
            <a:ext cx="1289304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232F3E"/>
                </a:solidFill>
                <a:latin typeface="Aptos"/>
              </a:rPr>
              <a:t>Frequency + timing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57232" y="2852928"/>
            <a:ext cx="411479" cy="0"/>
          </a:xfrm>
          <a:prstGeom prst="line">
            <a:avLst/>
          </a:prstGeom>
          <a:ln w="20320">
            <a:solidFill>
              <a:srgbClr val="5B69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332719" y="2148840"/>
            <a:ext cx="1508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332719" y="2148840"/>
            <a:ext cx="1508760" cy="109728"/>
          </a:xfrm>
          <a:prstGeom prst="roundRect">
            <a:avLst/>
          </a:prstGeom>
          <a:solidFill>
            <a:srgbClr val="B74553"/>
          </a:solidFill>
          <a:ln>
            <a:solidFill>
              <a:srgbClr val="B74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05872" y="2450592"/>
            <a:ext cx="13624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50" b="1">
                <a:solidFill>
                  <a:srgbClr val="B74553"/>
                </a:solidFill>
                <a:latin typeface="Aptos"/>
              </a:rPr>
              <a:t>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42447" y="2816352"/>
            <a:ext cx="1289304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232F3E"/>
                </a:solidFill>
                <a:latin typeface="Aptos"/>
              </a:rPr>
              <a:t>CSV + graphs +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343400"/>
            <a:ext cx="99669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5B6979"/>
                </a:solidFill>
                <a:latin typeface="Aptos"/>
              </a:rPr>
              <a:t>Parallel paths are executed after loading; correctness is verified against sequential results.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14600" y="5321808"/>
            <a:ext cx="7132320" cy="365760"/>
          </a:xfrm>
          <a:prstGeom prst="roundRect">
            <a:avLst/>
          </a:prstGeom>
          <a:solidFill>
            <a:srgbClr val="E8F1F9"/>
          </a:solidFill>
          <a:ln>
            <a:solidFill>
              <a:srgbClr val="E8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0" y="5367528"/>
            <a:ext cx="7040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42B45"/>
                </a:solidFill>
                <a:latin typeface="Aptos"/>
              </a:rPr>
              <a:t>FORK/JOIN  •  THRESHOLDED RECURSION  •  RESULT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5097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Aptos Display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04120" y="292608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50" b="1">
                <a:solidFill>
                  <a:srgbClr val="239D9D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0">
                <a:solidFill>
                  <a:srgbClr val="5B6979"/>
                </a:solidFill>
                <a:latin typeface="Aptos"/>
              </a:rPr>
              <a:t>Correctness verified and benchmarked across datasets from 10K to 1M values.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E1E9F1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5B6979"/>
                </a:solidFill>
                <a:latin typeface="Aptos"/>
              </a:rPr>
              <a:t>TEAM 23  •  DSA-3  •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5B6979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70432"/>
            <a:ext cx="37033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444752"/>
            <a:ext cx="21945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39D9D"/>
                </a:solidFill>
                <a:latin typeface="Aptos"/>
              </a:rPr>
              <a:t>SAMPLE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901952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5B6979"/>
                </a:solidFill>
                <a:latin typeface="Aptos"/>
              </a:rPr>
              <a:t>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901952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400" b="1">
                <a:solidFill>
                  <a:srgbClr val="142B45"/>
                </a:solidFill>
                <a:latin typeface="Aptos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587752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5B6979"/>
                </a:solidFill>
                <a:latin typeface="Aptos"/>
              </a:rPr>
              <a:t>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587752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400" b="1">
                <a:solidFill>
                  <a:srgbClr val="142B45"/>
                </a:solidFill>
                <a:latin typeface="Aptos"/>
              </a:rPr>
              <a:t>33.0000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273552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5B6979"/>
                </a:solidFill>
                <a:latin typeface="Aptos"/>
              </a:rPr>
              <a:t>Variance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273552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400" b="1">
                <a:solidFill>
                  <a:srgbClr val="142B45"/>
                </a:solidFill>
                <a:latin typeface="Aptos"/>
              </a:rPr>
              <a:t>231.0000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959352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5B6979"/>
                </a:solidFill>
                <a:latin typeface="Aptos"/>
              </a:rPr>
              <a:t>Minimum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959352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400" b="1">
                <a:solidFill>
                  <a:srgbClr val="142B45"/>
                </a:solidFill>
                <a:latin typeface="Aptos"/>
              </a:rPr>
              <a:t>10.0000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645152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5B6979"/>
                </a:solidFill>
                <a:latin typeface="Aptos"/>
              </a:rPr>
              <a:t>Maximum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645152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400" b="1">
                <a:solidFill>
                  <a:srgbClr val="142B45"/>
                </a:solidFill>
                <a:latin typeface="Aptos"/>
              </a:rPr>
              <a:t>60.0000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468112"/>
            <a:ext cx="3063240" cy="347472"/>
          </a:xfrm>
          <a:prstGeom prst="roundRect">
            <a:avLst/>
          </a:prstGeom>
          <a:solidFill>
            <a:srgbClr val="EBF5F0"/>
          </a:solidFill>
          <a:ln>
            <a:solidFill>
              <a:srgbClr val="EB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513832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30" b="1">
                <a:solidFill>
                  <a:srgbClr val="379D65"/>
                </a:solidFill>
                <a:latin typeface="Aptos"/>
              </a:rPr>
              <a:t>SEQUENTIAL = PARALLEL (verified)</a:t>
            </a:r>
          </a:p>
        </p:txBody>
      </p:sp>
      <p:pic>
        <p:nvPicPr>
          <p:cNvPr id="23" name="Picture 22" descr="39f0b0f5-9546-4bfe-9ec2-f02bb5ffae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34440"/>
            <a:ext cx="7086600" cy="47091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17720" y="5989320"/>
            <a:ext cx="66751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19" b="0">
                <a:solidFill>
                  <a:srgbClr val="5B6979"/>
                </a:solidFill>
                <a:latin typeface="Aptos"/>
              </a:rPr>
              <a:t>Benchmark report: execution time and speedup across 10K, 100K, 500K and 1M datasets.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5097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Aptos Display"/>
              </a:rPr>
              <a:t>Hardware &amp; Software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04120" y="292608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50" b="1">
                <a:solidFill>
                  <a:srgbClr val="239D9D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0">
                <a:solidFill>
                  <a:srgbClr val="5B6979"/>
                </a:solidFill>
                <a:latin typeface="Aptos"/>
              </a:rPr>
              <a:t>Practical execution environment for the Java implementation.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E1E9F1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5B6979"/>
                </a:solidFill>
                <a:latin typeface="Aptos"/>
              </a:rPr>
              <a:t>TEAM 23  •  DSA-3  •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5B6979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53492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64008" cy="4251960"/>
          </a:xfrm>
          <a:prstGeom prst="roundRect">
            <a:avLst/>
          </a:prstGeom>
          <a:solidFill>
            <a:srgbClr val="397DB8"/>
          </a:solidFill>
          <a:ln>
            <a:solidFill>
              <a:srgbClr val="39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63039"/>
            <a:ext cx="496519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42B45"/>
                </a:solidFill>
                <a:latin typeface="Aptos"/>
              </a:rPr>
              <a:t>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856231"/>
            <a:ext cx="4965192" cy="3611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Computer / laptop.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Multi-core processor for parallel execution.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Minimum 4 GB RAM recommended.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Sufficient storage for datasets and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53492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325880"/>
            <a:ext cx="64008" cy="4251960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463039"/>
            <a:ext cx="496519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42B45"/>
                </a:solidFill>
                <a:latin typeface="Aptos"/>
              </a:rPr>
              <a:t>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856231"/>
            <a:ext cx="4965192" cy="3611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Windows / Linux operating system.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Java Development Kit (JDK).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Visual Studio Code / IntelliJ IDEA.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Java Swing for the dashboard UI.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CSV files for datasets and exported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5806440"/>
            <a:ext cx="4069080" cy="347472"/>
          </a:xfrm>
          <a:prstGeom prst="roundRect">
            <a:avLst/>
          </a:prstGeom>
          <a:solidFill>
            <a:srgbClr val="E8F1F9"/>
          </a:solidFill>
          <a:ln>
            <a:solidFill>
              <a:srgbClr val="E8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5852160"/>
            <a:ext cx="3977639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42B45"/>
                </a:solidFill>
                <a:latin typeface="Aptos"/>
              </a:rPr>
              <a:t>IMPLEMENTATION LANGUAGE: JAVA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5097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Aptos Display"/>
              </a:rPr>
              <a:t>Dashboard &amp; Graphical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04120" y="292608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50" b="1">
                <a:solidFill>
                  <a:srgbClr val="239D9D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0">
                <a:solidFill>
                  <a:srgbClr val="5B6979"/>
                </a:solidFill>
                <a:latin typeface="Aptos"/>
              </a:rPr>
              <a:t>The final UI combines analytics, validation and visual performance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E1E9F1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5B6979"/>
                </a:solidFill>
                <a:latin typeface="Aptos"/>
              </a:rPr>
              <a:t>TEAM 23  •  DSA-3  •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5B6979"/>
                </a:solidFill>
                <a:latin typeface="Aptos"/>
              </a:rPr>
              <a:t>10</a:t>
            </a:r>
          </a:p>
        </p:txBody>
      </p:sp>
      <p:pic>
        <p:nvPicPr>
          <p:cNvPr id="9" name="Picture 8" descr="d68ad8f5-2a17-4a72-92ce-bfd1730745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635240" cy="5074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49640" y="1325880"/>
            <a:ext cx="2971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49640" y="1325880"/>
            <a:ext cx="64008" cy="4343400"/>
          </a:xfrm>
          <a:prstGeom prst="roundRect">
            <a:avLst/>
          </a:prstGeom>
          <a:solidFill>
            <a:srgbClr val="379D65"/>
          </a:solidFill>
          <a:ln>
            <a:solidFill>
              <a:srgbClr val="379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50808" y="1463039"/>
            <a:ext cx="258775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42B45"/>
                </a:solidFill>
                <a:latin typeface="Aptos"/>
              </a:rPr>
              <a:t>DASHBOARD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0808" y="1856231"/>
            <a:ext cx="2587752" cy="3703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Dataset selector and one-click loading.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Live cards for values, mean, variance, min and max.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Sequential vs. parallel statistics.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Frequency distribution tab.</a:t>
            </a:r>
          </a:p>
          <a:p>
            <a:pPr>
              <a:spcAft>
                <a:spcPts val="700"/>
              </a:spcAft>
              <a:defRPr sz="1150">
                <a:solidFill>
                  <a:srgbClr val="232F3E"/>
                </a:solidFill>
                <a:latin typeface="Aptos"/>
              </a:defRPr>
            </a:pPr>
            <a:r>
              <a:t>• Performance graphs tab.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5833872"/>
            <a:ext cx="2606040" cy="347472"/>
          </a:xfrm>
          <a:prstGeom prst="roundRect">
            <a:avLst/>
          </a:prstGeom>
          <a:solidFill>
            <a:srgbClr val="EBF5F0"/>
          </a:solidFill>
          <a:ln>
            <a:solidFill>
              <a:srgbClr val="EB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5879592"/>
            <a:ext cx="25146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80" b="1">
                <a:solidFill>
                  <a:srgbClr val="379D65"/>
                </a:solidFill>
                <a:latin typeface="Aptos"/>
              </a:rPr>
              <a:t>INTERACTIVE SWING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5097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04120" y="292608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50" b="1">
                <a:solidFill>
                  <a:srgbClr val="239D9D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0">
                <a:solidFill>
                  <a:srgbClr val="5B6979"/>
                </a:solidFill>
                <a:latin typeface="Aptos"/>
              </a:rPr>
              <a:t>What the completed implementation demonstrates.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E1E9F1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5B6979"/>
                </a:solidFill>
                <a:latin typeface="Aptos"/>
              </a:rPr>
              <a:t>TEAM 23  •  DSA-3  •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5B6979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10972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8"/>
            <a:ext cx="20116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39D9D"/>
                </a:solidFill>
                <a:latin typeface="Aptos"/>
              </a:rPr>
              <a:t>PROJECT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9875520" cy="2926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F3E"/>
                </a:solidFill>
                <a:latin typeface="Aptos"/>
              </a:defRPr>
            </a:pPr>
            <a:r>
              <a:t>• A complete Java-based statistical analytics dashboard was implemented.</a:t>
            </a:r>
          </a:p>
          <a:p>
            <a:pPr>
              <a:spcAft>
                <a:spcPts val="700"/>
              </a:spcAft>
              <a:defRPr sz="1400">
                <a:solidFill>
                  <a:srgbClr val="232F3E"/>
                </a:solidFill>
                <a:latin typeface="Aptos"/>
              </a:defRPr>
            </a:pPr>
            <a:r>
              <a:t>• Descriptive statistics, prefix sums and frequency distributions are computed correctly.</a:t>
            </a:r>
          </a:p>
          <a:p>
            <a:pPr>
              <a:spcAft>
                <a:spcPts val="700"/>
              </a:spcAft>
              <a:defRPr sz="1400">
                <a:solidFill>
                  <a:srgbClr val="232F3E"/>
                </a:solidFill>
                <a:latin typeface="Aptos"/>
              </a:defRPr>
            </a:pPr>
            <a:r>
              <a:t>• Parallel reduction and parallel prefix-sum algorithms were implemented using Fork/Join.</a:t>
            </a:r>
          </a:p>
          <a:p>
            <a:pPr>
              <a:spcAft>
                <a:spcPts val="700"/>
              </a:spcAft>
              <a:defRPr sz="1400">
                <a:solidFill>
                  <a:srgbClr val="232F3E"/>
                </a:solidFill>
                <a:latin typeface="Aptos"/>
              </a:defRPr>
            </a:pPr>
            <a:r>
              <a:t>• Sequential and parallel outputs were verified for correctness.</a:t>
            </a:r>
          </a:p>
          <a:p>
            <a:pPr>
              <a:spcAft>
                <a:spcPts val="700"/>
              </a:spcAft>
              <a:defRPr sz="1400">
                <a:solidFill>
                  <a:srgbClr val="232F3E"/>
                </a:solidFill>
                <a:latin typeface="Aptos"/>
              </a:defRPr>
            </a:pPr>
            <a:r>
              <a:t>• Benchmark results are exported to CSV and converted into graphical reports.</a:t>
            </a:r>
          </a:p>
          <a:p>
            <a:pPr>
              <a:spcAft>
                <a:spcPts val="700"/>
              </a:spcAft>
              <a:defRPr sz="1400">
                <a:solidFill>
                  <a:srgbClr val="232F3E"/>
                </a:solidFill>
                <a:latin typeface="Aptos"/>
              </a:defRPr>
            </a:pPr>
            <a:r>
              <a:t>• Measured speedup depends on dataset size, workload and parallelization overhead.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5257800"/>
            <a:ext cx="7315200" cy="365760"/>
          </a:xfrm>
          <a:prstGeom prst="roundRect">
            <a:avLst/>
          </a:prstGeom>
          <a:solidFill>
            <a:srgbClr val="E8F1F9"/>
          </a:solidFill>
          <a:ln>
            <a:solidFill>
              <a:srgbClr val="E8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5303520"/>
            <a:ext cx="72237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30" b="1">
                <a:solidFill>
                  <a:srgbClr val="142B45"/>
                </a:solidFill>
                <a:latin typeface="Aptos"/>
              </a:rPr>
              <a:t>KEY TAKEAWAY: PARALLELISM IS A TRADE-OFF BETWEEN WORK AND OVERHEAD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5097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Aptos Display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04120" y="292608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50" b="1">
                <a:solidFill>
                  <a:srgbClr val="239D9D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0">
                <a:solidFill>
                  <a:srgbClr val="5B6979"/>
                </a:solidFill>
                <a:latin typeface="Aptos"/>
              </a:rPr>
              <a:t>Potential extensions for a stronger analytics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E1E9F1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5B6979"/>
                </a:solidFill>
                <a:latin typeface="Aptos"/>
              </a:rPr>
              <a:t>TEAM 23  •  DSA-3  •  25CS2103E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5B6979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17320"/>
            <a:ext cx="349300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59" y="1581912"/>
            <a:ext cx="457200" cy="457200"/>
          </a:xfrm>
          <a:prstGeom prst="roundRect">
            <a:avLst/>
          </a:prstGeom>
          <a:solidFill>
            <a:srgbClr val="397DB8"/>
          </a:solidFill>
          <a:ln>
            <a:solidFill>
              <a:srgbClr val="39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691640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1563624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42B45"/>
                </a:solidFill>
                <a:latin typeface="Aptos"/>
              </a:rPr>
              <a:t>Larger &amp; real-time datasets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2020824"/>
            <a:ext cx="246888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5B6979"/>
                </a:solidFill>
                <a:latin typeface="Aptos"/>
              </a:rPr>
              <a:t>Stream or process continuously arriving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3128" y="1417320"/>
            <a:ext cx="349300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17720" y="1581912"/>
            <a:ext cx="457200" cy="457200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691640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1563624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42B45"/>
                </a:solidFill>
                <a:latin typeface="Aptos"/>
              </a:rPr>
              <a:t>Advanced statistics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020824"/>
            <a:ext cx="246888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5B6979"/>
                </a:solidFill>
                <a:latin typeface="Aptos"/>
              </a:rPr>
              <a:t>Median, standard deviation, percentiles and correlation.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1417320"/>
            <a:ext cx="349300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1581912"/>
            <a:ext cx="457200" cy="457200"/>
          </a:xfrm>
          <a:prstGeom prst="roundRect">
            <a:avLst/>
          </a:prstGeom>
          <a:solidFill>
            <a:srgbClr val="379D65"/>
          </a:solidFill>
          <a:ln>
            <a:solidFill>
              <a:srgbClr val="379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691640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1563624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42B45"/>
                </a:solidFill>
                <a:latin typeface="Aptos"/>
              </a:rPr>
              <a:t>Richer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2020824"/>
            <a:ext cx="246888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5B6979"/>
                </a:solidFill>
                <a:latin typeface="Aptos"/>
              </a:rPr>
              <a:t>Interactive charts, filters and export controls.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474720"/>
            <a:ext cx="349300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59" y="3639312"/>
            <a:ext cx="457200" cy="457200"/>
          </a:xfrm>
          <a:prstGeom prst="roundRect">
            <a:avLst/>
          </a:prstGeom>
          <a:solidFill>
            <a:srgbClr val="CE8537"/>
          </a:solidFill>
          <a:ln>
            <a:solidFill>
              <a:srgbClr val="CE8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749039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5607" y="3621024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42B45"/>
                </a:solidFill>
                <a:latin typeface="Aptos"/>
              </a:rPr>
              <a:t>Cloud / distributed 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5607" y="4078224"/>
            <a:ext cx="246888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5B6979"/>
                </a:solidFill>
                <a:latin typeface="Aptos"/>
              </a:rPr>
              <a:t>Move beyond a single machine for very large 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53128" y="3474720"/>
            <a:ext cx="349300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17720" y="3639312"/>
            <a:ext cx="457200" cy="457200"/>
          </a:xfrm>
          <a:prstGeom prst="roundRect">
            <a:avLst/>
          </a:prstGeom>
          <a:solidFill>
            <a:srgbClr val="795BA8"/>
          </a:solidFill>
          <a:ln>
            <a:solidFill>
              <a:srgbClr val="79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3749039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3621024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42B45"/>
                </a:solidFill>
                <a:latin typeface="Aptos"/>
              </a:rPr>
              <a:t>GPU acceleration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0368" y="4078224"/>
            <a:ext cx="246888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5B6979"/>
                </a:solidFill>
                <a:latin typeface="Aptos"/>
              </a:rPr>
              <a:t>Explore data-parallel computation for suitable workloads.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47888" y="3474720"/>
            <a:ext cx="349300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0" y="3639312"/>
            <a:ext cx="457200" cy="457200"/>
          </a:xfrm>
          <a:prstGeom prst="roundRect">
            <a:avLst/>
          </a:prstGeom>
          <a:solidFill>
            <a:srgbClr val="B74553"/>
          </a:solidFill>
          <a:ln>
            <a:solidFill>
              <a:srgbClr val="B74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3749039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3621024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142B45"/>
                </a:solidFill>
                <a:latin typeface="Aptos"/>
              </a:rPr>
              <a:t>Automated benchmarking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5128" y="4078224"/>
            <a:ext cx="246888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5B6979"/>
                </a:solidFill>
                <a:latin typeface="Aptos"/>
              </a:rPr>
              <a:t>Repeatable runs across hardware and dataset sizes.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40480" y="5806440"/>
            <a:ext cx="4480560" cy="347472"/>
          </a:xfrm>
          <a:prstGeom prst="roundRect">
            <a:avLst/>
          </a:prstGeom>
          <a:solidFill>
            <a:srgbClr val="E8F1F9"/>
          </a:solidFill>
          <a:ln>
            <a:solidFill>
              <a:srgbClr val="E8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6200" y="5852160"/>
            <a:ext cx="43891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69" b="1">
                <a:solidFill>
                  <a:srgbClr val="142B45"/>
                </a:solidFill>
                <a:latin typeface="Aptos"/>
              </a:rPr>
              <a:t>TEAM 23  •  READY FOR EXTENSION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7772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011680"/>
            <a:ext cx="832104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900" b="0">
                <a:solidFill>
                  <a:srgbClr val="D6E7F3"/>
                </a:solidFill>
                <a:latin typeface="Aptos"/>
              </a:rPr>
              <a:t>Statistical Analytics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2834640"/>
            <a:ext cx="1783080" cy="347472"/>
          </a:xfrm>
          <a:prstGeom prst="roundRect">
            <a:avLst/>
          </a:prstGeom>
          <a:solidFill>
            <a:srgbClr val="239D9D"/>
          </a:solidFill>
          <a:ln>
            <a:solidFill>
              <a:srgbClr val="23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57800" y="2880360"/>
            <a:ext cx="16916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TEAM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703320"/>
            <a:ext cx="6309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P. Sasi Kumar  •  2520030505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133087"/>
            <a:ext cx="6309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P. Revanth  •  2520030292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892040"/>
            <a:ext cx="81381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BED2E4"/>
                </a:solidFill>
                <a:latin typeface="Aptos"/>
              </a:rPr>
              <a:t>Data Structures and Algorithms – 3  |  25CS2103E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5577840"/>
            <a:ext cx="370332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239D9D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